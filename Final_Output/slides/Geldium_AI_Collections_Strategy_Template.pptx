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57" r:id="rId3"/>
    <p:sldId id="262" r:id="rId4"/>
    <p:sldId id="259" r:id="rId5"/>
    <p:sldId id="260" r:id="rId6"/>
    <p:sldId id="261" r:id="rId7"/>
  </p:sldIdLst>
  <p:sldSz cx="9144000" cy="5143500" type="screen16x9"/>
  <p:notesSz cx="6858000" cy="9144000"/>
  <p:embeddedFontLst>
    <p:embeddedFont>
      <p:font typeface="Roboto" panose="02000000000000000000" pitchFamily="2" charset="0"/>
      <p:regular r:id="rId9"/>
      <p:bold r:id="rId10"/>
      <p:italic r:id="rId11"/>
      <p:boldItalic r:id="rId12"/>
    </p:embeddedFont>
    <p:embeddedFont>
      <p:font typeface="Roboto Slab" pitchFamily="2"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584E98-F22C-4E6F-8C55-6CFEC2229C57}">
  <a:tblStyle styleId="{2E584E98-F22C-4E6F-8C55-6CFEC2229C5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81440"/>
  </p:normalViewPr>
  <p:slideViewPr>
    <p:cSldViewPr snapToGrid="0">
      <p:cViewPr varScale="1">
        <p:scale>
          <a:sx n="135" d="100"/>
          <a:sy n="135" d="100"/>
        </p:scale>
        <p:origin x="1152"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Deck outline: customer-data-to-learning workflow; risk and action policy; agent autonomy versus human oversight; responsible AI guardrails; expected business and customer impact. Read all three project Word documents. Task 2 is a model plan without measured validation results; Task 3 still contains unfilled prompts. Interventions and targets are proposals.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516fb96b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516fb96b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Outline: slides 1–2 workflow and decision policy; slide 3 agent autonomy; slide 4 guardrails; slide 5 impact. The current extract contains 500 customers, of whom 80 (16%) are delinquent. This is descriptive evidence, not a validated forecast. The Task 2 model is a proposal, with no fitted coefficients or evaluation results supplied. Contact preferences and verified account status are proposed operational inputs, not fields confirmed in the extract. The predictive model scores risk; the agent executes approved workflows. Keep these responsibilities distinct. Sources: EDA_SummaryReport.docx; Task 2_ModelPlan.docx. Updated_Business_Summary_Report.docx was read but contains unfilled template prompts, so there are no completed Task 3 recommendations to claim as established.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EDA associations are exploratory: all numeric pairwise correlations have |rho| &lt;= 0.047. Missing loan balance shows 24.1% delinquency (1.51x overall), Business card holders 21.3%, and tenure 5–10 years 19.7%. Use these as investigation hypotheses, not causal effects or validated individual-risk rules. Do not prioritize collection pressure based on age. Start with the Task 2 L2-regularized logistic regression and class weighting. Keep raw missing data visible; median imputation for fitting and scaling must occur inside training folds, with missingness indicators. Use stratified five-fold validation, precision, recall, F1 and ROC-AUC; assess calibration because class weighting can affect probability estimates. Add a later-period evaluation once dated data are available. Define outcome horizon and exclude future information. No numerical thresholds are justified by the supplied documents. The pilot intervention—supportive reminders and staff-led repayment support—is a new proposal because Task 3 is unfilled. Suppression eligibility comes before scoring. Missingness may be informative but may also reflect operational bias; it must not automatically trigger more aggressive contact.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516fb96bf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516fb96bf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Agentic AI plans and carries out a sequence of allowed activities within a fixed policy: eligibility checks, approved reminder scheduling, response tracking and task creation. It cannot invent balances, fees, legal claims, discounts or promises. Customer messages are untrusted inputs and cannot override policy or tool permissions. Use a narrow tool allowlist, approved message templates, verified account facts and action logs. Escalate requests outside the approved menu, vulnerable-customer indicators, disputed debt, conflicting data and repeated nonresponse. Compliance and Collections set review service levels before launch; the operations lead owns the queue and can disable automation. Model Risk owns validation and release approval. Human reviewers need the data, risk reasons and action history, and must be able to correct or override the recommendation. Retraining proposals can be prepared automatically; no live model changes without approval.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16fb96bf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16fb96bf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Fairness reviews should use subgroup sample counts and uncertainty: n=500 can produce unstable differences, so do not claim demonstrated parity. Audit age, location and employment status and demographic-correlated inputs; do not use age to target collection pressure. Missingness indicators also need bias review. Agree breach thresholds before launch; review weekly during the pilot. Protect demographic audit data with restricted access. Explainability should reflect actual contributing inputs, not unsupported causal claims. NIST AI RMF is voluntary risk-management guidance, not a certification or legal compliance guarantee: https://www.nist.gov/itl/ai-risk-management-framework . CFPB guidance supports attention to inconvenient contact times and places, electronic opt-outs and collection restrictions: https://www.consumerfinance.gov/compliance/compliance-resources/other-applicable-requirements/debt-collection/debt-collection-rule-faqs/ . The dataset lists US cities, but Geldium jurisdiction and creditor/collector role are not confirmed. Compliance must determine whether FDCPA/Regulation F, relevant state rules and other obligations apply before enabling actions. The slide describes proposed controls, not a legal determination. Do not assume a uniform legal regime or encode contact limits without review.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16fb96bfd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16fb96bf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Evaluation: define a consistent new-delinquency outcome and 90-day follow-up for every eligible account before assignment. Randomize at customer level within risk strata to support-versus-business-as-usual, preserving required notices and standard support access. Pre-specify sample size and a meaningful minimum effect; the supplied 500-row extract may be insufficient. Report absolute and relative changes, confidence intervals and differences in case mix; do not attribute recovery changes to AI from a before/after comparison alone. If the concurrent control has 16% delinquency, a 10% relative reduction means 14.4%, a 1.6 percentage-point reduction. The historical 16% is an illustration, not a measured future-incidence control baseline. Cost per resolved account = total collection operating cost, including agents and human reviews, divided by resolved accounts. Cure rate = delinquent accounts returned to current status divided by delinquent accounts enrolled, over a fixed follow-up; report separately from prevention. Net recovery deducts collection costs. Complaint rate uses contacts or customers as a consistent denominator; survey customer satisfaction and track opt-out fulfillment and support uptake. Monitor model discrimination, calibration, data drift and subgroup error rates. Collections owns outcomes, Finance verifies costs, Model Risk verifies prediction and fairness, Compliance owns contact incidents. Weekly controls review and a day-90 executive gate determine expand, revise or stop. No expansion if material customer harm, unresolved compliance incidents, fairness breaches or weak evidence of benefit remain. Expected qualitative benefits are aspirations to test. Task 3 document contains no completed recommendation or SMART target; all pilot targets and interventions here are proposed.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KR"/>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KR"/>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p>
            <a:pPr marL="0" lvl="0" indent="0" algn="ctr" rtl="0">
              <a:spcBef>
                <a:spcPts val="0"/>
              </a:spcBef>
              <a:spcAft>
                <a:spcPts val="1300"/>
              </a:spcAft>
              <a:buNone/>
              <a:defRPr sz="3200">
                <a:latin typeface="Arial"/>
              </a:defRPr>
            </a:pPr>
            <a:r>
              <a:t>AI-Powered Collections Strategy</a:t>
            </a:r>
            <a:endParaRPr sz="3000" dirty="0"/>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1300"/>
              </a:spcAft>
              <a:buNone/>
              <a:defRPr sz="2000">
                <a:latin typeface="Arial"/>
              </a:defRPr>
            </a:pPr>
            <a:r>
              <a:t>Responsible, explainable automation for Geldium</a:t>
            </a:r>
            <a:br/>
            <a:r>
              <a:t>Executive briefing | Proposed 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1300"/>
              </a:spcAft>
              <a:buNone/>
              <a:defRPr sz="2800">
                <a:latin typeface="Arial"/>
              </a:defRPr>
            </a:pPr>
            <a:r>
              <a:t>How the System Works: A Controlled Loop</a:t>
            </a:r>
          </a:p>
        </p:txBody>
      </p:sp>
      <p:sp>
        <p:nvSpPr>
          <p:cNvPr id="70" name="Google Shape;70;p1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spcAft>
                <a:spcPts val="1300"/>
              </a:spcAft>
              <a:defRPr sz="1800">
                <a:latin typeface="Arial"/>
              </a:defRPr>
            </a:pPr>
            <a:r>
              <a:rPr lang="en-US" dirty="0"/>
              <a:t>1. INPUTS — Payment history, balances, income and utilization; add verified account status and contact preferences.</a:t>
            </a:r>
          </a:p>
          <a:p>
            <a:pPr>
              <a:spcAft>
                <a:spcPts val="1300"/>
              </a:spcAft>
              <a:defRPr sz="1800">
                <a:latin typeface="Arial"/>
              </a:defRPr>
            </a:pPr>
            <a:r>
              <a:rPr dirty="0"/>
              <a:t>2. DECISION — Interpretable logistic regression estimates risk; policy checks select eligible actions or human review.</a:t>
            </a:r>
          </a:p>
          <a:p>
            <a:pPr>
              <a:spcAft>
                <a:spcPts val="1300"/>
              </a:spcAft>
              <a:defRPr sz="1800">
                <a:latin typeface="Arial"/>
              </a:defRPr>
            </a:pPr>
            <a:r>
              <a:rPr dirty="0"/>
              <a:t>3. ACTION — Send approved reminders; offer a support conversation; route hardship and disputes to specialists.</a:t>
            </a:r>
          </a:p>
          <a:p>
            <a:pPr>
              <a:spcAft>
                <a:spcPts val="1300"/>
              </a:spcAft>
              <a:defRPr sz="1800">
                <a:latin typeface="Arial"/>
              </a:defRPr>
            </a:pPr>
            <a:r>
              <a:rPr dirty="0"/>
              <a:t>4. LEARNING — Track repayment, complaints and fairness versus a control group; humans approve model updates.</a:t>
            </a:r>
          </a:p>
        </p:txBody>
      </p:sp>
      <p:sp>
        <p:nvSpPr>
          <p:cNvPr id="71" name="TextBox 70"/>
          <p:cNvSpPr txBox="1"/>
          <p:nvPr/>
        </p:nvSpPr>
        <p:spPr>
          <a:xfrm>
            <a:off x="484632" y="4668202"/>
            <a:ext cx="7882127" cy="246221"/>
          </a:xfrm>
          <a:prstGeom prst="rect">
            <a:avLst/>
          </a:prstGeom>
          <a:noFill/>
        </p:spPr>
        <p:txBody>
          <a:bodyPr wrap="square">
            <a:spAutoFit/>
          </a:bodyPr>
          <a:lstStyle/>
          <a:p>
            <a:pPr>
              <a:spcAft>
                <a:spcPts val="1300"/>
              </a:spcAft>
              <a:defRPr sz="1000">
                <a:latin typeface="Arial"/>
              </a:defRPr>
            </a:pPr>
            <a:r>
              <a:rPr dirty="0">
                <a:solidFill>
                  <a:schemeClr val="tx1"/>
                </a:solidFill>
              </a:rPr>
              <a:t>Proposed workflow | Sources: EDA Summary Report and Task 2 Model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C1373-ECCB-8893-C88B-952E49559659}"/>
              </a:ext>
            </a:extLst>
          </p:cNvPr>
          <p:cNvSpPr>
            <a:spLocks noGrp="1"/>
          </p:cNvSpPr>
          <p:nvPr>
            <p:ph type="title"/>
          </p:nvPr>
        </p:nvSpPr>
        <p:spPr/>
        <p:txBody>
          <a:bodyPr wrap="square">
            <a:normAutofit fontScale="90000"/>
          </a:bodyPr>
          <a:lstStyle/>
          <a:p>
            <a:pPr>
              <a:spcAft>
                <a:spcPts val="1300"/>
              </a:spcAft>
              <a:defRPr sz="2800">
                <a:latin typeface="Arial"/>
              </a:defRPr>
            </a:pPr>
            <a:r>
              <a:t>How the System Works: Risk to Support</a:t>
            </a:r>
          </a:p>
        </p:txBody>
      </p:sp>
      <p:sp>
        <p:nvSpPr>
          <p:cNvPr id="3" name="Text Placeholder 2">
            <a:extLst>
              <a:ext uri="{FF2B5EF4-FFF2-40B4-BE49-F238E27FC236}">
                <a16:creationId xmlns:a16="http://schemas.microsoft.com/office/drawing/2014/main" id="{C6259607-54F3-CE30-20BB-21D4536BE7C6}"/>
              </a:ext>
            </a:extLst>
          </p:cNvPr>
          <p:cNvSpPr>
            <a:spLocks noGrp="1"/>
          </p:cNvSpPr>
          <p:nvPr>
            <p:ph type="body" idx="1"/>
          </p:nvPr>
        </p:nvSpPr>
        <p:spPr/>
        <p:txBody>
          <a:bodyPr wrap="square">
            <a:normAutofit fontScale="92500" lnSpcReduction="10000"/>
          </a:bodyPr>
          <a:lstStyle/>
          <a:p>
            <a:pPr>
              <a:spcAft>
                <a:spcPts val="1300"/>
              </a:spcAft>
              <a:defRPr sz="1800">
                <a:latin typeface="Arial"/>
              </a:defRPr>
            </a:pPr>
            <a:r>
              <a:rPr dirty="0">
                <a:solidFill>
                  <a:schemeClr val="tx1"/>
                </a:solidFill>
              </a:rPr>
              <a:t>Validate first: fix monthly payment encoding, standardize employment labels, preserve missingness and confirm data timing.</a:t>
            </a:r>
            <a:endParaRPr lang="en-US" dirty="0">
              <a:solidFill>
                <a:schemeClr val="tx1"/>
              </a:solidFill>
            </a:endParaRPr>
          </a:p>
          <a:p>
            <a:pPr>
              <a:spcAft>
                <a:spcPts val="1300"/>
              </a:spcAft>
              <a:defRPr sz="1800">
                <a:latin typeface="Arial"/>
              </a:defRPr>
            </a:pPr>
            <a:r>
              <a:rPr dirty="0">
                <a:solidFill>
                  <a:schemeClr val="tx1"/>
                </a:solidFill>
              </a:rPr>
              <a:t>Low validated risk → routine reminders. Elevated risk → proactive support invitation and staff-led repayment options.</a:t>
            </a:r>
          </a:p>
          <a:p>
            <a:pPr>
              <a:spcAft>
                <a:spcPts val="1300"/>
              </a:spcAft>
              <a:defRPr sz="1800">
                <a:latin typeface="Arial"/>
              </a:defRPr>
            </a:pPr>
            <a:r>
              <a:rPr dirty="0">
                <a:solidFill>
                  <a:schemeClr val="tx1"/>
                </a:solidFill>
              </a:rPr>
              <a:t>Missing data or uncertain scores → verify facts. Hardship, disputes or contact restrictions → pause outreach and review.</a:t>
            </a:r>
          </a:p>
          <a:p>
            <a:pPr>
              <a:spcAft>
                <a:spcPts val="1300"/>
              </a:spcAft>
              <a:defRPr sz="1800">
                <a:latin typeface="Arial"/>
              </a:defRPr>
            </a:pPr>
            <a:r>
              <a:rPr dirty="0">
                <a:solidFill>
                  <a:schemeClr val="tx1"/>
                </a:solidFill>
              </a:rPr>
              <a:t>Validate and calibrate the Task 2 model before setting thresholds; match escalation volumes to staff </a:t>
            </a:r>
            <a:r>
              <a:rPr dirty="0" err="1">
                <a:solidFill>
                  <a:schemeClr val="tx1"/>
                </a:solidFill>
              </a:rPr>
              <a:t>capacity.</a:t>
            </a:r>
            <a:r>
              <a:rPr lang="en-US" dirty="0" err="1">
                <a:solidFill>
                  <a:schemeClr val="tx1"/>
                </a:solidFill>
              </a:rPr>
              <a:t>a</a:t>
            </a:r>
            <a:endParaRPr dirty="0">
              <a:solidFill>
                <a:schemeClr val="tx1"/>
              </a:solidFill>
            </a:endParaRPr>
          </a:p>
        </p:txBody>
      </p:sp>
      <p:sp>
        <p:nvSpPr>
          <p:cNvPr id="4" name="TextBox 3"/>
          <p:cNvSpPr txBox="1"/>
          <p:nvPr/>
        </p:nvSpPr>
        <p:spPr>
          <a:xfrm>
            <a:off x="484632" y="4489704"/>
            <a:ext cx="7882127" cy="246221"/>
          </a:xfrm>
          <a:prstGeom prst="rect">
            <a:avLst/>
          </a:prstGeom>
          <a:noFill/>
        </p:spPr>
        <p:txBody>
          <a:bodyPr wrap="square">
            <a:spAutoFit/>
          </a:bodyPr>
          <a:lstStyle/>
          <a:p>
            <a:pPr>
              <a:spcAft>
                <a:spcPts val="1300"/>
              </a:spcAft>
              <a:defRPr sz="1000">
                <a:latin typeface="Arial"/>
              </a:defRPr>
            </a:pPr>
            <a:r>
              <a:rPr dirty="0">
                <a:solidFill>
                  <a:schemeClr val="tx1"/>
                </a:solidFill>
              </a:rPr>
              <a:t>Exploratory signal: missing loan balance = 24.1% delinquency vs. 16.0% overall; investigate before acting.</a:t>
            </a:r>
          </a:p>
        </p:txBody>
      </p:sp>
    </p:spTree>
    <p:extLst>
      <p:ext uri="{BB962C8B-B14F-4D97-AF65-F5344CB8AC3E}">
        <p14:creationId xmlns:p14="http://schemas.microsoft.com/office/powerpoint/2010/main" val="890219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1300"/>
              </a:spcAft>
              <a:buNone/>
              <a:defRPr sz="2800">
                <a:latin typeface="Arial"/>
              </a:defRPr>
            </a:pPr>
            <a:r>
              <a:t>Role of Agentic AI</a:t>
            </a:r>
          </a:p>
        </p:txBody>
      </p:sp>
      <p:graphicFrame>
        <p:nvGraphicFramePr>
          <p:cNvPr id="83" name="Table 82"/>
          <p:cNvGraphicFramePr>
            <a:graphicFrameLocks noGrp="1"/>
          </p:cNvGraphicFramePr>
          <p:nvPr/>
        </p:nvGraphicFramePr>
        <p:xfrm>
          <a:off x="484632" y="1481328"/>
          <a:ext cx="8174736" cy="3002280"/>
        </p:xfrm>
        <a:graphic>
          <a:graphicData uri="http://schemas.openxmlformats.org/drawingml/2006/table">
            <a:tbl>
              <a:tblPr firstRow="1" bandRow="1">
                <a:tableStyleId>{5C22544A-7EE6-4342-B048-85BDC9FD1C3A}</a:tableStyleId>
              </a:tblPr>
              <a:tblGrid>
                <a:gridCol w="4087368">
                  <a:extLst>
                    <a:ext uri="{9D8B030D-6E8A-4147-A177-3AD203B41FA5}">
                      <a16:colId xmlns:a16="http://schemas.microsoft.com/office/drawing/2014/main" val="20000"/>
                    </a:ext>
                  </a:extLst>
                </a:gridCol>
                <a:gridCol w="4087368">
                  <a:extLst>
                    <a:ext uri="{9D8B030D-6E8A-4147-A177-3AD203B41FA5}">
                      <a16:colId xmlns:a16="http://schemas.microsoft.com/office/drawing/2014/main" val="20001"/>
                    </a:ext>
                  </a:extLst>
                </a:gridCol>
              </a:tblGrid>
              <a:tr h="539496">
                <a:tc>
                  <a:txBody>
                    <a:bodyPr/>
                    <a:lstStyle/>
                    <a:p>
                      <a:pPr>
                        <a:spcAft>
                          <a:spcPts val="0"/>
                        </a:spcAft>
                        <a:defRPr sz="1600" b="1">
                          <a:solidFill>
                            <a:srgbClr val="FFFFFF"/>
                          </a:solidFill>
                          <a:latin typeface="Arial"/>
                        </a:defRPr>
                      </a:pPr>
                      <a:r>
                        <a:t>Autonomous</a:t>
                      </a:r>
                    </a:p>
                  </a:txBody>
                  <a:tcPr marL="118872" marT="82296">
                    <a:solidFill>
                      <a:srgbClr val="0277BD"/>
                    </a:solidFill>
                  </a:tcPr>
                </a:tc>
                <a:tc>
                  <a:txBody>
                    <a:bodyPr/>
                    <a:lstStyle/>
                    <a:p>
                      <a:pPr>
                        <a:spcAft>
                          <a:spcPts val="0"/>
                        </a:spcAft>
                        <a:defRPr sz="1600" b="1">
                          <a:solidFill>
                            <a:srgbClr val="FFFFFF"/>
                          </a:solidFill>
                          <a:latin typeface="Arial"/>
                        </a:defRPr>
                      </a:pPr>
                      <a:r>
                        <a:t>Human Oversight</a:t>
                      </a:r>
                    </a:p>
                  </a:txBody>
                  <a:tcPr marL="118872" marT="82296">
                    <a:solidFill>
                      <a:srgbClr val="0277BD"/>
                    </a:solidFill>
                  </a:tcPr>
                </a:tc>
                <a:extLst>
                  <a:ext uri="{0D108BD9-81ED-4DB2-BD59-A6C34878D82A}">
                    <a16:rowId xmlns:a16="http://schemas.microsoft.com/office/drawing/2014/main" val="10000"/>
                  </a:ext>
                </a:extLst>
              </a:tr>
              <a:tr h="539496">
                <a:tc>
                  <a:txBody>
                    <a:bodyPr/>
                    <a:lstStyle/>
                    <a:p>
                      <a:pPr>
                        <a:spcAft>
                          <a:spcPts val="0"/>
                        </a:spcAft>
                        <a:defRPr sz="1600" b="0">
                          <a:solidFill>
                            <a:srgbClr val="004065"/>
                          </a:solidFill>
                          <a:latin typeface="Arial"/>
                        </a:defRPr>
                      </a:pPr>
                      <a:r>
                        <a:t>Validate inputs and score eligible accounts.</a:t>
                      </a:r>
                    </a:p>
                  </a:txBody>
                  <a:tcPr marL="118872" marT="82296">
                    <a:solidFill>
                      <a:srgbClr val="E8F2F8"/>
                    </a:solidFill>
                  </a:tcPr>
                </a:tc>
                <a:tc>
                  <a:txBody>
                    <a:bodyPr/>
                    <a:lstStyle/>
                    <a:p>
                      <a:pPr>
                        <a:spcAft>
                          <a:spcPts val="0"/>
                        </a:spcAft>
                        <a:defRPr sz="1600" b="0">
                          <a:solidFill>
                            <a:srgbClr val="004065"/>
                          </a:solidFill>
                          <a:latin typeface="Arial"/>
                        </a:defRPr>
                      </a:pPr>
                      <a:r>
                        <a:t>Approve models, thresholds and contact rules.</a:t>
                      </a:r>
                    </a:p>
                  </a:txBody>
                  <a:tcPr marL="118872" marT="82296">
                    <a:solidFill>
                      <a:srgbClr val="E8F2F8"/>
                    </a:solidFill>
                  </a:tcPr>
                </a:tc>
                <a:extLst>
                  <a:ext uri="{0D108BD9-81ED-4DB2-BD59-A6C34878D82A}">
                    <a16:rowId xmlns:a16="http://schemas.microsoft.com/office/drawing/2014/main" val="10001"/>
                  </a:ext>
                </a:extLst>
              </a:tr>
              <a:tr h="539496">
                <a:tc>
                  <a:txBody>
                    <a:bodyPr/>
                    <a:lstStyle/>
                    <a:p>
                      <a:pPr>
                        <a:spcAft>
                          <a:spcPts val="0"/>
                        </a:spcAft>
                        <a:defRPr sz="1600" b="0">
                          <a:solidFill>
                            <a:srgbClr val="004065"/>
                          </a:solidFill>
                          <a:latin typeface="Arial"/>
                        </a:defRPr>
                      </a:pPr>
                      <a:r>
                        <a:t>Select approved channel, timing and template.</a:t>
                      </a:r>
                    </a:p>
                  </a:txBody>
                  <a:tcPr marL="118872" marT="82296">
                    <a:solidFill>
                      <a:srgbClr val="FFFFFF"/>
                    </a:solidFill>
                  </a:tcPr>
                </a:tc>
                <a:tc>
                  <a:txBody>
                    <a:bodyPr/>
                    <a:lstStyle/>
                    <a:p>
                      <a:pPr>
                        <a:spcAft>
                          <a:spcPts val="0"/>
                        </a:spcAft>
                        <a:defRPr sz="1600" b="0">
                          <a:solidFill>
                            <a:srgbClr val="004065"/>
                          </a:solidFill>
                          <a:latin typeface="Arial"/>
                        </a:defRPr>
                      </a:pPr>
                      <a:r>
                        <a:t>Review hardship, disputes and uncertain scores.</a:t>
                      </a:r>
                    </a:p>
                  </a:txBody>
                  <a:tcPr marL="118872" marT="82296">
                    <a:solidFill>
                      <a:srgbClr val="FFFFFF"/>
                    </a:solidFill>
                  </a:tcPr>
                </a:tc>
                <a:extLst>
                  <a:ext uri="{0D108BD9-81ED-4DB2-BD59-A6C34878D82A}">
                    <a16:rowId xmlns:a16="http://schemas.microsoft.com/office/drawing/2014/main" val="10002"/>
                  </a:ext>
                </a:extLst>
              </a:tr>
              <a:tr h="539496">
                <a:tc>
                  <a:txBody>
                    <a:bodyPr/>
                    <a:lstStyle/>
                    <a:p>
                      <a:pPr>
                        <a:spcAft>
                          <a:spcPts val="0"/>
                        </a:spcAft>
                        <a:defRPr sz="1600" b="0">
                          <a:solidFill>
                            <a:srgbClr val="004065"/>
                          </a:solidFill>
                          <a:latin typeface="Arial"/>
                        </a:defRPr>
                      </a:pPr>
                      <a:r>
                        <a:t>Send reminders; log responses; create staff tasks.</a:t>
                      </a:r>
                    </a:p>
                  </a:txBody>
                  <a:tcPr marL="118872" marT="82296">
                    <a:solidFill>
                      <a:srgbClr val="E8F2F8"/>
                    </a:solidFill>
                  </a:tcPr>
                </a:tc>
                <a:tc>
                  <a:txBody>
                    <a:bodyPr/>
                    <a:lstStyle/>
                    <a:p>
                      <a:pPr>
                        <a:spcAft>
                          <a:spcPts val="0"/>
                        </a:spcAft>
                        <a:defRPr sz="1600" b="0">
                          <a:solidFill>
                            <a:srgbClr val="004065"/>
                          </a:solidFill>
                          <a:latin typeface="Arial"/>
                        </a:defRPr>
                      </a:pPr>
                      <a:r>
                        <a:rPr dirty="0"/>
                        <a:t>Authorize plans, settlements and adverse actions.</a:t>
                      </a:r>
                    </a:p>
                  </a:txBody>
                  <a:tcPr marL="118872" marT="82296">
                    <a:solidFill>
                      <a:srgbClr val="E8F2F8"/>
                    </a:solidFill>
                  </a:tcPr>
                </a:tc>
                <a:extLst>
                  <a:ext uri="{0D108BD9-81ED-4DB2-BD59-A6C34878D82A}">
                    <a16:rowId xmlns:a16="http://schemas.microsoft.com/office/drawing/2014/main" val="10003"/>
                  </a:ext>
                </a:extLst>
              </a:tr>
              <a:tr h="539496">
                <a:tc>
                  <a:txBody>
                    <a:bodyPr/>
                    <a:lstStyle/>
                    <a:p>
                      <a:pPr>
                        <a:spcAft>
                          <a:spcPts val="0"/>
                        </a:spcAft>
                        <a:defRPr sz="1600" b="0">
                          <a:solidFill>
                            <a:srgbClr val="004065"/>
                          </a:solidFill>
                          <a:latin typeface="Arial"/>
                        </a:defRPr>
                      </a:pPr>
                      <a:r>
                        <a:t>Monitor drift, complaints and control breaches.</a:t>
                      </a:r>
                    </a:p>
                  </a:txBody>
                  <a:tcPr marL="118872" marT="82296">
                    <a:solidFill>
                      <a:srgbClr val="FFFFFF"/>
                    </a:solidFill>
                  </a:tcPr>
                </a:tc>
                <a:tc>
                  <a:txBody>
                    <a:bodyPr/>
                    <a:lstStyle/>
                    <a:p>
                      <a:pPr>
                        <a:spcAft>
                          <a:spcPts val="0"/>
                        </a:spcAft>
                        <a:defRPr sz="1600" b="0">
                          <a:solidFill>
                            <a:srgbClr val="004065"/>
                          </a:solidFill>
                          <a:latin typeface="Arial"/>
                        </a:defRPr>
                      </a:pPr>
                      <a:r>
                        <a:rPr dirty="0"/>
                        <a:t>Approve retraining; own audits and shutdown.</a:t>
                      </a:r>
                    </a:p>
                  </a:txBody>
                  <a:tcPr marL="118872" marT="82296">
                    <a:solidFill>
                      <a:srgbClr val="FFFFFF"/>
                    </a:solidFill>
                  </a:tcPr>
                </a:tc>
                <a:extLst>
                  <a:ext uri="{0D108BD9-81ED-4DB2-BD59-A6C34878D82A}">
                    <a16:rowId xmlns:a16="http://schemas.microsoft.com/office/drawing/2014/main" val="10004"/>
                  </a:ext>
                </a:extLst>
              </a:tr>
            </a:tbl>
          </a:graphicData>
        </a:graphic>
      </p:graphicFrame>
      <p:sp>
        <p:nvSpPr>
          <p:cNvPr id="84" name="TextBox 83"/>
          <p:cNvSpPr txBox="1"/>
          <p:nvPr/>
        </p:nvSpPr>
        <p:spPr>
          <a:xfrm>
            <a:off x="484632" y="4489704"/>
            <a:ext cx="7882127" cy="246221"/>
          </a:xfrm>
          <a:prstGeom prst="rect">
            <a:avLst/>
          </a:prstGeom>
          <a:noFill/>
        </p:spPr>
        <p:txBody>
          <a:bodyPr wrap="square">
            <a:spAutoFit/>
          </a:bodyPr>
          <a:lstStyle/>
          <a:p>
            <a:pPr>
              <a:spcAft>
                <a:spcPts val="1300"/>
              </a:spcAft>
              <a:defRPr sz="1000">
                <a:latin typeface="Arial"/>
              </a:defRPr>
            </a:pPr>
            <a:r>
              <a:rPr>
                <a:solidFill>
                  <a:schemeClr val="tx1"/>
                </a:solidFill>
              </a:rPr>
              <a:t>Exception → pause outreach → named specialist → logged decision and customer explanation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1300"/>
              </a:spcAft>
              <a:buNone/>
              <a:defRPr sz="2800">
                <a:latin typeface="Arial"/>
              </a:defRPr>
            </a:pPr>
            <a:r>
              <a:rPr>
                <a:solidFill>
                  <a:schemeClr val="tx1"/>
                </a:solidFill>
              </a:rPr>
              <a:t>Responsible AI Guardrails</a:t>
            </a:r>
          </a:p>
        </p:txBody>
      </p:sp>
      <p:sp>
        <p:nvSpPr>
          <p:cNvPr id="89" name="Google Shape;89;p1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spcAft>
                <a:spcPts val="1300"/>
              </a:spcAft>
              <a:defRPr sz="1800">
                <a:latin typeface="Arial"/>
              </a:defRPr>
            </a:pPr>
            <a:r>
              <a:rPr lang="en-US" dirty="0">
                <a:solidFill>
                  <a:schemeClr val="tx1"/>
                </a:solidFill>
              </a:rPr>
              <a:t>Fairness — Audit subgroup errors and access to support; investigate age, location, employment and missingness proxies.</a:t>
            </a:r>
          </a:p>
          <a:p>
            <a:pPr>
              <a:spcAft>
                <a:spcPts val="1300"/>
              </a:spcAft>
              <a:defRPr sz="1800">
                <a:latin typeface="Arial"/>
              </a:defRPr>
            </a:pPr>
            <a:r>
              <a:rPr dirty="0">
                <a:solidFill>
                  <a:schemeClr val="tx1"/>
                </a:solidFill>
              </a:rPr>
              <a:t>Explainability — Give plain-language reasons, data correction and appeal routes; log facts, model version and overrides.</a:t>
            </a:r>
          </a:p>
          <a:p>
            <a:pPr>
              <a:spcAft>
                <a:spcPts val="1300"/>
              </a:spcAft>
              <a:defRPr sz="1800">
                <a:latin typeface="Arial"/>
              </a:defRPr>
            </a:pPr>
            <a:r>
              <a:rPr dirty="0">
                <a:solidFill>
                  <a:schemeClr val="tx1"/>
                </a:solidFill>
              </a:rPr>
              <a:t>Compliance &amp; privacy — Approve contact limits, opt-outs and dispute rules by market and creditor role; minimize data and access.</a:t>
            </a:r>
          </a:p>
          <a:p>
            <a:pPr>
              <a:spcAft>
                <a:spcPts val="1300"/>
              </a:spcAft>
              <a:defRPr sz="1800">
                <a:latin typeface="Arial"/>
              </a:defRPr>
            </a:pPr>
            <a:r>
              <a:rPr dirty="0">
                <a:solidFill>
                  <a:schemeClr val="tx1"/>
                </a:solidFill>
              </a:rPr>
              <a:t>Accountability — Use verified facts and approved templates; human review for hardship and adverse actions; enable shutdown.</a:t>
            </a:r>
          </a:p>
        </p:txBody>
      </p:sp>
      <p:sp>
        <p:nvSpPr>
          <p:cNvPr id="90" name="TextBox 89"/>
          <p:cNvSpPr txBox="1"/>
          <p:nvPr/>
        </p:nvSpPr>
        <p:spPr>
          <a:xfrm>
            <a:off x="475205" y="4685475"/>
            <a:ext cx="7882127" cy="246221"/>
          </a:xfrm>
          <a:prstGeom prst="rect">
            <a:avLst/>
          </a:prstGeom>
          <a:noFill/>
        </p:spPr>
        <p:txBody>
          <a:bodyPr wrap="square">
            <a:spAutoFit/>
          </a:bodyPr>
          <a:lstStyle/>
          <a:p>
            <a:pPr>
              <a:spcAft>
                <a:spcPts val="1300"/>
              </a:spcAft>
              <a:defRPr sz="1000">
                <a:latin typeface="Arial"/>
              </a:defRPr>
            </a:pPr>
            <a:r>
              <a:rPr dirty="0">
                <a:solidFill>
                  <a:schemeClr val="tx1"/>
                </a:solidFill>
              </a:rPr>
              <a:t>Sources: NIST AI RMF; CFPB Debt Collection Rule FAQs | Applicability and source URLs in notes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1300"/>
              </a:spcAft>
              <a:buNone/>
              <a:defRPr sz="2800">
                <a:latin typeface="Arial"/>
              </a:defRPr>
            </a:pPr>
            <a:r>
              <a:rPr>
                <a:solidFill>
                  <a:schemeClr val="tx1"/>
                </a:solidFill>
              </a:rPr>
              <a:t>Expected Business Impact</a:t>
            </a:r>
          </a:p>
        </p:txBody>
      </p:sp>
      <p:sp>
        <p:nvSpPr>
          <p:cNvPr id="96" name="TextBox 95"/>
          <p:cNvSpPr txBox="1"/>
          <p:nvPr/>
        </p:nvSpPr>
        <p:spPr>
          <a:xfrm>
            <a:off x="484632" y="1508760"/>
            <a:ext cx="3886200" cy="400110"/>
          </a:xfrm>
          <a:prstGeom prst="rect">
            <a:avLst/>
          </a:prstGeom>
          <a:noFill/>
        </p:spPr>
        <p:txBody>
          <a:bodyPr wrap="square">
            <a:spAutoFit/>
          </a:bodyPr>
          <a:lstStyle/>
          <a:p>
            <a:pPr>
              <a:spcAft>
                <a:spcPts val="1300"/>
              </a:spcAft>
              <a:defRPr sz="2000" b="1">
                <a:latin typeface="Arial"/>
              </a:defRPr>
            </a:pPr>
            <a:r>
              <a:rPr dirty="0">
                <a:solidFill>
                  <a:schemeClr val="tx1"/>
                </a:solidFill>
              </a:rPr>
              <a:t>Business KPIs</a:t>
            </a:r>
          </a:p>
        </p:txBody>
      </p:sp>
      <p:sp>
        <p:nvSpPr>
          <p:cNvPr id="97" name="TextBox 96"/>
          <p:cNvSpPr txBox="1"/>
          <p:nvPr/>
        </p:nvSpPr>
        <p:spPr>
          <a:xfrm>
            <a:off x="484632" y="2039112"/>
            <a:ext cx="3886200" cy="1995418"/>
          </a:xfrm>
          <a:prstGeom prst="rect">
            <a:avLst/>
          </a:prstGeom>
          <a:noFill/>
        </p:spPr>
        <p:txBody>
          <a:bodyPr wrap="square">
            <a:spAutoFit/>
          </a:bodyPr>
          <a:lstStyle/>
          <a:p>
            <a:pPr>
              <a:spcAft>
                <a:spcPts val="1300"/>
              </a:spcAft>
              <a:defRPr sz="1700">
                <a:latin typeface="Arial"/>
              </a:defRPr>
            </a:pPr>
            <a:r>
              <a:rPr dirty="0">
                <a:solidFill>
                  <a:schemeClr val="tx1"/>
                </a:solidFill>
              </a:rPr>
              <a:t>• Target 10% lower new delinquency relative to concurrent control.</a:t>
            </a:r>
          </a:p>
          <a:p>
            <a:pPr>
              <a:spcAft>
                <a:spcPts val="1300"/>
              </a:spcAft>
              <a:defRPr sz="1700">
                <a:latin typeface="Arial"/>
              </a:defRPr>
            </a:pPr>
            <a:r>
              <a:rPr dirty="0">
                <a:solidFill>
                  <a:schemeClr val="tx1"/>
                </a:solidFill>
              </a:rPr>
              <a:t>• Target 15% lower cost per resolved account, including AI and staff costs.</a:t>
            </a:r>
          </a:p>
          <a:p>
            <a:pPr>
              <a:spcAft>
                <a:spcPts val="1300"/>
              </a:spcAft>
              <a:defRPr sz="1700">
                <a:latin typeface="Arial"/>
              </a:defRPr>
            </a:pPr>
            <a:r>
              <a:rPr dirty="0">
                <a:solidFill>
                  <a:schemeClr val="tx1"/>
                </a:solidFill>
              </a:rPr>
              <a:t>• Track cure rate, net recovery and routine workload.</a:t>
            </a:r>
          </a:p>
        </p:txBody>
      </p:sp>
      <p:sp>
        <p:nvSpPr>
          <p:cNvPr id="98" name="TextBox 97"/>
          <p:cNvSpPr txBox="1"/>
          <p:nvPr/>
        </p:nvSpPr>
        <p:spPr>
          <a:xfrm>
            <a:off x="4663440" y="1508760"/>
            <a:ext cx="3886200" cy="400110"/>
          </a:xfrm>
          <a:prstGeom prst="rect">
            <a:avLst/>
          </a:prstGeom>
          <a:noFill/>
        </p:spPr>
        <p:txBody>
          <a:bodyPr wrap="square">
            <a:spAutoFit/>
          </a:bodyPr>
          <a:lstStyle/>
          <a:p>
            <a:pPr>
              <a:spcAft>
                <a:spcPts val="1300"/>
              </a:spcAft>
              <a:defRPr sz="2000" b="1">
                <a:latin typeface="Arial"/>
              </a:defRPr>
            </a:pPr>
            <a:r>
              <a:rPr dirty="0">
                <a:solidFill>
                  <a:schemeClr val="tx1"/>
                </a:solidFill>
              </a:rPr>
              <a:t>Customer Outcomes</a:t>
            </a:r>
          </a:p>
        </p:txBody>
      </p:sp>
      <p:sp>
        <p:nvSpPr>
          <p:cNvPr id="99" name="TextBox 98"/>
          <p:cNvSpPr txBox="1"/>
          <p:nvPr/>
        </p:nvSpPr>
        <p:spPr>
          <a:xfrm>
            <a:off x="4663440" y="2039112"/>
            <a:ext cx="3886200" cy="2257028"/>
          </a:xfrm>
          <a:prstGeom prst="rect">
            <a:avLst/>
          </a:prstGeom>
          <a:noFill/>
        </p:spPr>
        <p:txBody>
          <a:bodyPr wrap="square">
            <a:spAutoFit/>
          </a:bodyPr>
          <a:lstStyle/>
          <a:p>
            <a:pPr>
              <a:spcAft>
                <a:spcPts val="1300"/>
              </a:spcAft>
              <a:defRPr sz="1700">
                <a:latin typeface="Arial"/>
              </a:defRPr>
            </a:pPr>
            <a:r>
              <a:rPr dirty="0">
                <a:solidFill>
                  <a:schemeClr val="tx1"/>
                </a:solidFill>
              </a:rPr>
              <a:t>• Earlier access to affordable repayment support.</a:t>
            </a:r>
          </a:p>
          <a:p>
            <a:pPr>
              <a:spcAft>
                <a:spcPts val="1300"/>
              </a:spcAft>
              <a:defRPr sz="1700">
                <a:latin typeface="Arial"/>
              </a:defRPr>
            </a:pPr>
            <a:r>
              <a:rPr dirty="0">
                <a:solidFill>
                  <a:schemeClr val="tx1"/>
                </a:solidFill>
              </a:rPr>
              <a:t>• Clear messages, preferred channels and simple opt-outs.</a:t>
            </a:r>
          </a:p>
          <a:p>
            <a:pPr>
              <a:spcAft>
                <a:spcPts val="1300"/>
              </a:spcAft>
              <a:defRPr sz="1700">
                <a:latin typeface="Arial"/>
              </a:defRPr>
            </a:pPr>
            <a:r>
              <a:rPr dirty="0">
                <a:solidFill>
                  <a:schemeClr val="tx1"/>
                </a:solidFill>
              </a:rPr>
              <a:t>• Complaints no worse than control; monitor satisfaction and subgroup fairness.</a:t>
            </a:r>
          </a:p>
        </p:txBody>
      </p:sp>
      <p:sp>
        <p:nvSpPr>
          <p:cNvPr id="100" name="TextBox 99"/>
          <p:cNvSpPr txBox="1"/>
          <p:nvPr/>
        </p:nvSpPr>
        <p:spPr>
          <a:xfrm>
            <a:off x="484632" y="4489704"/>
            <a:ext cx="7882127" cy="246221"/>
          </a:xfrm>
          <a:prstGeom prst="rect">
            <a:avLst/>
          </a:prstGeom>
          <a:noFill/>
        </p:spPr>
        <p:txBody>
          <a:bodyPr wrap="square">
            <a:spAutoFit/>
          </a:bodyPr>
          <a:lstStyle/>
          <a:p>
            <a:pPr>
              <a:spcAft>
                <a:spcPts val="1300"/>
              </a:spcAft>
              <a:defRPr sz="1000">
                <a:latin typeface="Arial"/>
              </a:defRPr>
            </a:pPr>
            <a:r>
              <a:rPr>
                <a:solidFill>
                  <a:schemeClr val="tx1"/>
                </a:solidFill>
              </a:rPr>
              <a:t>Proposed 90-day randomized pilot | Targets are hypotheses, not forecasts; expand only with safe, credible uplift.</a:t>
            </a: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1560</Words>
  <Application>Microsoft Macintosh PowerPoint</Application>
  <PresentationFormat>On-screen Show (16:9)</PresentationFormat>
  <Paragraphs>48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Roboto Slab</vt:lpstr>
      <vt:lpstr>Roboto</vt:lpstr>
      <vt:lpstr>Marina</vt:lpstr>
      <vt:lpstr>AI-Powered Collections Strategy</vt:lpstr>
      <vt:lpstr>How the System Works: A Controlled Loop</vt:lpstr>
      <vt:lpstr>How the System Works: Risk to Support</vt:lpstr>
      <vt:lpstr>Role of Agentic AI</vt:lpstr>
      <vt:lpstr>Responsible AI Guardrails</vt:lpstr>
      <vt:lpstr>Expected Business Impact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Geldium AI-Powered Collections Strategy</dc:title>
  <cp:lastModifiedBy>주원 이</cp:lastModifiedBy>
  <cp:revision>8</cp:revision>
  <cp:lastPrinted>2026-10-06T03:23:40Z</cp:lastPrinted>
  <dcterms:modified xsi:type="dcterms:W3CDTF">2026-10-06T03:31:58Z</dcterms:modified>
</cp:coreProperties>
</file>